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54680"/>
            <a:ext cx="12192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基盤選定 比較検討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人員計画管理システム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 vs Microsoft Power Platform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99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コスト試算 ／ 機能比較 ／ 移植工数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比較対象の概要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/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166360" cy="5074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16636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🟠  AWS 構成（現行アプリ）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581912"/>
            <a:ext cx="502005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0934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ホスティング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60934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 Amplify（Next.js 14）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203704"/>
            <a:ext cx="5020056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311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データベース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23113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Amazon RDS（PostgreSQL）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2825496"/>
            <a:ext cx="502005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529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852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Prisma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447288"/>
            <a:ext cx="5020056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認証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Amazon Cognito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4069080"/>
            <a:ext cx="502005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0965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環境変数管理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40965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SSM Parameter Store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4690872"/>
            <a:ext cx="5020056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7183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フロントエンド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471830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React / TypeScript / SVGグラフ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1051560"/>
            <a:ext cx="5349240" cy="5074920"/>
          </a:xfrm>
          <a:prstGeom prst="rect">
            <a:avLst/>
          </a:prstGeom>
          <a:solidFill>
            <a:srgbClr val="E1F5F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1051560"/>
            <a:ext cx="5349240" cy="475488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06984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🔵  Microsoft Power Platform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79592" y="1581912"/>
            <a:ext cx="520293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71032" y="160934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UI / アプリ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71232" y="16093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Apps（M365標準ライセンス込）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79592" y="2203704"/>
            <a:ext cx="5202936" cy="594360"/>
          </a:xfrm>
          <a:prstGeom prst="rect">
            <a:avLst/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71032" y="22311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71232" y="22311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SharePoint Lists（無償・推奨）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79592" y="2825496"/>
            <a:ext cx="520293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71032" y="28529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71232" y="28529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Dataverse（要 Per User Plan）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79592" y="3447288"/>
            <a:ext cx="5202936" cy="594360"/>
          </a:xfrm>
          <a:prstGeom prst="rect">
            <a:avLst/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71032" y="3474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ワークフロー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71232" y="3474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Automate（M365標準込）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79592" y="4069080"/>
            <a:ext cx="520293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71032" y="40965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レポート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71232" y="40965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BI（要別途ライセンス）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879592" y="4690872"/>
            <a:ext cx="5202936" cy="594360"/>
          </a:xfrm>
          <a:prstGeom prst="rect">
            <a:avLst/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71032" y="47183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認証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71232" y="47183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Azure AD（M365連携・既存）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コスト試算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想定：ユーザー50名・社員1,000名規模・本番1環境　　Power AppsはM365標準ライセンスに含まれるため追加費用なし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5212080" cy="43891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0817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 構成　月額コスト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56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 Amplify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9968" y="1856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ホスティング + CI/CD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05072" y="1856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¥700〜2,000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40864"/>
            <a:ext cx="5212080" cy="512064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68296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RDS PostgreSQL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9968" y="23682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db.t3.micro / Single-AZ / 20GB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05072" y="23682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¥2,200〜3,000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52928"/>
            <a:ext cx="52120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80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Amazon Cognito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29968" y="2880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〜50,000 MAU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05072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5212080" cy="512064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9242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データ転送 ほか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29968" y="33924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社内利用レベル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05072" y="33924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¥300〜500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877056"/>
            <a:ext cx="5212080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136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月額合計（概算）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39136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¥3,200〜5,500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852160" y="1389888"/>
            <a:ext cx="5303520" cy="43891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1408176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Platform　月額コスト（SharePoint Lists構成）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0" y="1828800"/>
            <a:ext cx="5303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18562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Apps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53528" y="1856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M365標準ライセンス込み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19488" y="18562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52160" y="2340864"/>
            <a:ext cx="5303520" cy="512064"/>
          </a:xfrm>
          <a:prstGeom prst="rect">
            <a:avLst/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23682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SharePoint Lists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53528" y="23682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M365標準ライセンス込み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19488" y="236829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52160" y="2852928"/>
            <a:ext cx="5303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1888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Automate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53528" y="2880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M365標準ライセンス込み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19488" y="28803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無料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52160" y="3364992"/>
            <a:ext cx="5303520" cy="512064"/>
          </a:xfrm>
          <a:prstGeom prst="rect">
            <a:avLst/>
          </a:prstGeom>
          <a:solidFill>
            <a:srgbClr val="E1F5FE"/>
          </a:solidFill>
          <a:ln w="12700">
            <a:solidFill>
              <a:srgbClr val="B3E5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33924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BI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53528" y="33924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グラフ分析が必要な場合（要検討）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19488" y="33924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¥0〜65,000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852160" y="3877056"/>
            <a:ext cx="5303520" cy="54864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61888" y="39136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月額合計（概算）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03920" y="3913632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¥0〜65,000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852160" y="4462272"/>
            <a:ext cx="530352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61888" y="44805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💡 Per User Plan が必要な場合は ¥1,200/人/月（50名なら＋¥60,000/月）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5138928"/>
            <a:ext cx="10881360" cy="73152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5166360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⚠️  Power BIはグラフ・分析画面の再現に必要な可能性が高い（後述）。Pro版：¥1,300/人/月 × 50名 = ¥65,000/月。分析画面を簡略化すれば不要にできる場合もある。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初期構築コスト・期間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インフラ費用は両者とも初期¥0（従量課金 / M365込み）。以下はエンジニア工数の目安。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088136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3774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工程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389888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AWS（Next.js）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389888"/>
            <a:ext cx="4343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Platform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（SharePoint Lists）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10881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1109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インフラ構築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91109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Amplify + RDS + Cognito 設定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1〜2週間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91109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SharePoint Lists スキーマ設計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2〜3日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1088136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7860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認証・権限設定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5786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Cognito ユーザープール + JWT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3〜5日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57860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Azure AD グループ設定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1〜2日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09544"/>
            <a:ext cx="10881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46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データ移行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246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モックデータ → PostgreSQL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1〜2週間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32461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モックデータ → SharePoint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3〜5日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77056"/>
            <a:ext cx="1088136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136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UI / ロジック移植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913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現行アプリをAPI対応に改修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2〜4週間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91363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Canvas App で全画面再作成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6〜12週間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544568"/>
            <a:ext cx="10881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8114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グラフ・分析機能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458114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現行SVGグラフをそのまま流用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追加工数なし 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458114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BI連携または代替実装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2〜6週間 ⚠️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5212080"/>
            <a:ext cx="10881360" cy="6675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24865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テスト・リリース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524865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2〜3週間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524865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1579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2〜3週間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5879592"/>
            <a:ext cx="1088136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92531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合計目安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26080" y="59253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約 2〜3ヶ月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66560" y="5925312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3E5F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約 3〜6ヶ月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SharePoint Lists の実用性評価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コスト面では有力な選択肢。ただし本アプリ固有の課題がある。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088136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機能・画面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19272" y="1389888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SharePoint Lists 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56832" y="13898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工数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00032" y="1389888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判定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847088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部員一覧・メンバー管理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847088"/>
            <a:ext cx="3172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Lists で問題なく管理できる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56832" y="1847088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00032" y="1847088"/>
            <a:ext cx="17556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適合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108813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414016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異動計画 入力・修正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2414016"/>
            <a:ext cx="3172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Lists + Power Apps フォームで実装可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56832" y="2414016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低〜中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00032" y="2414016"/>
            <a:ext cx="17556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適合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44368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80944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承認ワークフロー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9272" y="2980944"/>
            <a:ext cx="3172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Power Automate の最も得意な領域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56832" y="298094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低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00032" y="2980944"/>
            <a:ext cx="17556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適合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511296"/>
            <a:ext cx="108813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547872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月次人員計画（30ヶ月分）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3547872"/>
            <a:ext cx="3172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構造を工夫すれば可。2,000件超で委任制限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56832" y="3547872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00032" y="3547872"/>
            <a:ext cx="17556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要注意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078224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114800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スナップショット管理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9272" y="4114800"/>
            <a:ext cx="3172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Lists に保存は可能。比較ロジックが複雑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56832" y="4114800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中〜高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00032" y="4114800"/>
            <a:ext cx="17556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要検討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4645152"/>
            <a:ext cx="108813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681728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インタラクティブグラフ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19272" y="4681728"/>
            <a:ext cx="3172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△ Power Appsに標準SVGなし。Power BI必要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56832" y="4681728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00032" y="4681728"/>
            <a:ext cx="17556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△ 要追加費用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521208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5248656"/>
            <a:ext cx="28072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差分分析・スライダー操作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19272" y="5248656"/>
            <a:ext cx="3172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Power Apps の計算式だけでは再現困難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56832" y="5248656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非常に高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00032" y="5248656"/>
            <a:ext cx="17556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困難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5797296"/>
            <a:ext cx="10881360" cy="54864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5824728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⚠️  分析画面（グラフ・スライダー・差分計算）の再現には Power BI Pro が別途必要になる可能性が高い。分析機能を割り切って削除・簡略化できるなら SharePoint Lists は有力な選択肢。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機能適合度比較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完全対応　　○ 対応（制限あり）　　△ 要追加実装・費用　　✕ 非対応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088136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機能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389888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AWS（現行アプリ）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1389888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Platform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（SharePoint Lists）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108813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11096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ロールベースのメニュー管理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911096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実装済み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1911096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Azure AD連携で実現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1088136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50592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インタラクティブグラフ（SVG）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450592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カスタム実装済み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450592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標準機能では再現不可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53512"/>
            <a:ext cx="108813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90088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スナップショット・差分分析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990088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実装済み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2990088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△ Power BI Pro 要追加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1088136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9584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異動計画 承認ワークフロー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529584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要実装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529584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Power Automate 得意領域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032504"/>
            <a:ext cx="108813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69080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バイネーム差分表示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4069080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実装済み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4069080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ギャラリーで実装可（工数大）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572000"/>
            <a:ext cx="1088136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608576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Excel 出力・外部連携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4608576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要実装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4608576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Power Automate 標準機能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5111496"/>
            <a:ext cx="108813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148072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既存 M365 環境との統合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5148072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△ 別途連携が必要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5148072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シームレスに統合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5650992"/>
            <a:ext cx="1088136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5687568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オフライン対応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5687568"/>
            <a:ext cx="3657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0" y="5687568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部分対応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まとめ・推奨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 /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088136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観点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0424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AWS（現行アプリ）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104241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Power Platform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（SharePoint Lists）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3619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月額ランニング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53619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¥3,200〜5,500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153619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¥0（分析機能省略時）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¥65,000〜（Power BI Pro込）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10881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3911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初期構築期間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03911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2〜3ヶ月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03911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3〜6ヶ月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505456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4203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分析グラフの再現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54203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そのまま使える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254203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要 Power BI（追加費用）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008376"/>
            <a:ext cx="10881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4495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承認ワークフロー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04495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要実装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304495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Power Automate 得意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511296"/>
            <a:ext cx="10881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4787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M365 との親和性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354787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△ 別途連携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354787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◎ シームレス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014216"/>
            <a:ext cx="10881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50792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保守・拡張性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405079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開発スキル要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4050792"/>
            <a:ext cx="3566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976D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○ Power Fx / Power Automate 要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525780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617720"/>
            <a:ext cx="146304" cy="141732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663440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8E3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✅  推奨 A：AWS構成での運用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" y="50749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現行の分析グラフをそのまま活かせる。月額コストも低く、拡張性が高い。分析機能を重視するならこちら。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97880" y="4617720"/>
            <a:ext cx="5257800" cy="1417320"/>
          </a:xfrm>
          <a:prstGeom prst="rect">
            <a:avLst/>
          </a:prstGeom>
          <a:solidFill>
            <a:srgbClr val="E1F5F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4617720"/>
            <a:ext cx="146304" cy="14173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4663440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4E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💡  推奨 B：Power Platform（条件付き）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53912" y="50749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分析画面を割り切って省略 or 簡略化できるなら追加費用ほぼ¥0。承認フローや既存M365との統合を優先する場合に有力。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2026-03-16T05:36:35Z</dcterms:created>
  <dcterms:modified xsi:type="dcterms:W3CDTF">2026-03-16T05:36:35Z</dcterms:modified>
</cp:coreProperties>
</file>