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560320"/>
            <a:ext cx="12192000" cy="182880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217920"/>
            <a:ext cx="12192000" cy="18288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9144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人員計画管理システム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BDEF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業務フロー・活用ガイド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人事部門向け提案資料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246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BDEF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〜 計画・実績・予測を一元管理し、意思決定を加速する 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5303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CAF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2026年3月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システム概要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DEF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何ができるのか？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217920"/>
            <a:ext cx="12192000" cy="18288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263640"/>
            <a:ext cx="7315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人員計画管理システム　業務フロー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2194560" cy="4389120"/>
          </a:xfrm>
          <a:prstGeom prst="rect">
            <a:avLst>
              <a:gd name="adj" fmla="val 2083"/>
            </a:avLst>
          </a:prstGeom>
          <a:solidFill>
            <a:srgbClr val="E3F2FD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630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📋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21945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計画管理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2743200"/>
            <a:ext cx="1097280" cy="36576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83464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組織別の月次人員計画を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登録・管理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834640" y="1280160"/>
            <a:ext cx="2194560" cy="4389120"/>
          </a:xfrm>
          <a:prstGeom prst="rect">
            <a:avLst>
              <a:gd name="adj" fmla="val 2083"/>
            </a:avLst>
          </a:prstGeom>
          <a:solidFill>
            <a:srgbClr val="E8F5E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34640" y="14630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🔄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834640" y="21945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異動計画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383280" y="2743200"/>
            <a:ext cx="1097280" cy="36576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16" name="Text 14"/>
          <p:cNvSpPr/>
          <p:nvPr/>
        </p:nvSpPr>
        <p:spPr>
          <a:xfrm>
            <a:off x="2926080" y="283464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異動予定を登録し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自動で計画に反映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03520" y="1280160"/>
            <a:ext cx="2194560" cy="4389120"/>
          </a:xfrm>
          <a:prstGeom prst="rect">
            <a:avLst>
              <a:gd name="adj" fmla="val 2083"/>
            </a:avLst>
          </a:prstGeom>
          <a:solidFill>
            <a:srgbClr val="FBE9E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0" y="14630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📸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303520" y="21945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スナップショット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852160" y="2743200"/>
            <a:ext cx="1097280" cy="36576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21" name="Text 19"/>
          <p:cNvSpPr/>
          <p:nvPr/>
        </p:nvSpPr>
        <p:spPr>
          <a:xfrm>
            <a:off x="5394960" y="283464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任意時点の計画を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保存・比較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772400" y="1280160"/>
            <a:ext cx="2194560" cy="4389120"/>
          </a:xfrm>
          <a:prstGeom prst="rect">
            <a:avLst>
              <a:gd name="adj" fmla="val 2083"/>
            </a:avLst>
          </a:prstGeom>
          <a:solidFill>
            <a:srgbClr val="F3E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0" y="14630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📊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772400" y="21945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分析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321040" y="2743200"/>
            <a:ext cx="1097280" cy="36576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0" y="283464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計画vs実績の差分を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グラフで可視化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0241280" y="1280160"/>
            <a:ext cx="2194560" cy="4389120"/>
          </a:xfrm>
          <a:prstGeom prst="rect">
            <a:avLst>
              <a:gd name="adj" fmla="val 2083"/>
            </a:avLst>
          </a:prstGeom>
          <a:solidFill>
            <a:srgbClr val="FFF9C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241280" y="14630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👥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10241280" y="21945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将来人数登録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0789920" y="2743200"/>
            <a:ext cx="1097280" cy="36576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31" name="Text 29"/>
          <p:cNvSpPr/>
          <p:nvPr/>
        </p:nvSpPr>
        <p:spPr>
          <a:xfrm>
            <a:off x="10332720" y="283464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半期ごとの将来予測を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登録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65760" y="5806440"/>
            <a:ext cx="1170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4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これら5つの機能が連携し、人員計画の「計画・実行・振り返り」サイクルを支援します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ロール別アクセス権限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DEF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役割に応じた画面制御で情報セキュリティを確保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217920"/>
            <a:ext cx="12192000" cy="18288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263640"/>
            <a:ext cx="7315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人員計画管理システム　業務フロー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1463040" cy="4572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3716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11680" y="1371600"/>
            <a:ext cx="1188720" cy="4572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1" name="Text 9"/>
          <p:cNvSpPr/>
          <p:nvPr/>
        </p:nvSpPr>
        <p:spPr>
          <a:xfrm>
            <a:off x="2011680" y="13716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メンバー管理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83280" y="1371600"/>
            <a:ext cx="1188720" cy="4572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13716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計画一覧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1371600"/>
            <a:ext cx="1188720" cy="4572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3716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異動計画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1371600"/>
            <a:ext cx="1188720" cy="4572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13716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メンバー確認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498080" y="1371600"/>
            <a:ext cx="1188720" cy="4572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0" y="13716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自組織計画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869680" y="1371600"/>
            <a:ext cx="1188720" cy="4572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21" name="Text 19"/>
          <p:cNvSpPr/>
          <p:nvPr/>
        </p:nvSpPr>
        <p:spPr>
          <a:xfrm>
            <a:off x="8869680" y="13716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分析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2011680"/>
            <a:ext cx="1463040" cy="685800"/>
          </a:xfrm>
          <a:prstGeom prst="rect">
            <a:avLst/>
          </a:prstGeom>
          <a:solidFill>
            <a:srgbClr val="E3F2FD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01168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976D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人事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011680" y="2011680"/>
            <a:ext cx="1188720" cy="685800"/>
          </a:xfrm>
          <a:prstGeom prst="rect">
            <a:avLst/>
          </a:prstGeom>
          <a:solidFill>
            <a:srgbClr val="E3F2FD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11680" y="201168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976D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383280" y="2011680"/>
            <a:ext cx="1188720" cy="685800"/>
          </a:xfrm>
          <a:prstGeom prst="rect">
            <a:avLst/>
          </a:prstGeom>
          <a:solidFill>
            <a:srgbClr val="E3F2FD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201168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976D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754880" y="2011680"/>
            <a:ext cx="1188720" cy="685800"/>
          </a:xfrm>
          <a:prstGeom prst="rect">
            <a:avLst/>
          </a:prstGeom>
          <a:solidFill>
            <a:srgbClr val="E3F2FD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01168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976D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26480" y="2011680"/>
            <a:ext cx="118872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201168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498080" y="2011680"/>
            <a:ext cx="118872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0" y="201168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869680" y="2011680"/>
            <a:ext cx="1188720" cy="685800"/>
          </a:xfrm>
          <a:prstGeom prst="rect">
            <a:avLst/>
          </a:prstGeom>
          <a:solidFill>
            <a:srgbClr val="E3F2FD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869680" y="201168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976D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65760" y="2834640"/>
            <a:ext cx="1463040" cy="685800"/>
          </a:xfrm>
          <a:prstGeom prst="rect">
            <a:avLst/>
          </a:prstGeom>
          <a:solidFill>
            <a:srgbClr val="E8F5E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283464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センター長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011680" y="2834640"/>
            <a:ext cx="118872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011680" y="283464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−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383280" y="2834640"/>
            <a:ext cx="118872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83280" y="283464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−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754880" y="2834640"/>
            <a:ext cx="118872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283464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−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126480" y="2834640"/>
            <a:ext cx="1188720" cy="685800"/>
          </a:xfrm>
          <a:prstGeom prst="rect">
            <a:avLst/>
          </a:prstGeom>
          <a:solidFill>
            <a:srgbClr val="E8F5E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26480" y="283464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498080" y="2834640"/>
            <a:ext cx="1188720" cy="685800"/>
          </a:xfrm>
          <a:prstGeom prst="rect">
            <a:avLst/>
          </a:prstGeom>
          <a:solidFill>
            <a:srgbClr val="E8F5E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98080" y="283464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869680" y="2834640"/>
            <a:ext cx="1188720" cy="685800"/>
          </a:xfrm>
          <a:prstGeom prst="rect">
            <a:avLst/>
          </a:prstGeom>
          <a:solidFill>
            <a:srgbClr val="E8F5E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869680" y="283464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365760" y="3657600"/>
            <a:ext cx="1463040" cy="685800"/>
          </a:xfrm>
          <a:prstGeom prst="rect">
            <a:avLst/>
          </a:prstGeom>
          <a:solidFill>
            <a:srgbClr val="FBE9E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365760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企画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2011680" y="3657600"/>
            <a:ext cx="118872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011680" y="365760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−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3383280" y="3657600"/>
            <a:ext cx="118872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83280" y="365760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−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4754880" y="3657600"/>
            <a:ext cx="118872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54880" y="365760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−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126480" y="3657600"/>
            <a:ext cx="118872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126480" y="365760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−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7498080" y="3657600"/>
            <a:ext cx="118872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498080" y="365760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−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869680" y="3657600"/>
            <a:ext cx="1188720" cy="685800"/>
          </a:xfrm>
          <a:prstGeom prst="rect">
            <a:avLst/>
          </a:prstGeom>
          <a:solidFill>
            <a:srgbClr val="FBE9E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869680" y="365760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51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365760" y="5029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4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将来は Azure AD 連携により、役職情報から自動でロール付与予定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月次業務フロー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DEF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毎月の標準的な運用サイクル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217920"/>
            <a:ext cx="12192000" cy="18288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263640"/>
            <a:ext cx="7315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人員計画管理システム　業務フロー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05840" y="1417320"/>
            <a:ext cx="548640" cy="548640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828800"/>
            <a:ext cx="1828800" cy="2194560"/>
          </a:xfrm>
          <a:prstGeom prst="rect">
            <a:avLst>
              <a:gd name="adj" fmla="val 5000"/>
            </a:avLst>
          </a:prstGeom>
          <a:solidFill>
            <a:srgbClr val="E3F2FD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0116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異動計画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登録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788920"/>
            <a:ext cx="1097280" cy="36576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880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担当: 人事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240280" y="2651760"/>
            <a:ext cx="457200" cy="457200"/>
          </a:xfrm>
          <a:prstGeom prst="rightArrow">
            <a:avLst/>
          </a:prstGeom>
          <a:solidFill>
            <a:srgbClr val="1976D2"/>
          </a:solidFill>
          <a:ln/>
        </p:spPr>
      </p:sp>
      <p:sp>
        <p:nvSpPr>
          <p:cNvPr id="14" name="Shape 12"/>
          <p:cNvSpPr/>
          <p:nvPr/>
        </p:nvSpPr>
        <p:spPr>
          <a:xfrm>
            <a:off x="3346704" y="141732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3346704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06624" y="1828800"/>
            <a:ext cx="1828800" cy="2194560"/>
          </a:xfrm>
          <a:prstGeom prst="rect">
            <a:avLst>
              <a:gd name="adj" fmla="val 5000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06624" y="20116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計画への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自動反映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072384" y="2788920"/>
            <a:ext cx="1097280" cy="3657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9" name="Text 17"/>
          <p:cNvSpPr/>
          <p:nvPr/>
        </p:nvSpPr>
        <p:spPr>
          <a:xfrm>
            <a:off x="2706624" y="2880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担当: （自動）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81144" y="2651760"/>
            <a:ext cx="457200" cy="457200"/>
          </a:xfrm>
          <a:prstGeom prst="rightArrow">
            <a:avLst/>
          </a:prstGeom>
          <a:solidFill>
            <a:srgbClr val="1976D2"/>
          </a:solidFill>
          <a:ln/>
        </p:spPr>
      </p:sp>
      <p:sp>
        <p:nvSpPr>
          <p:cNvPr id="21" name="Shape 19"/>
          <p:cNvSpPr/>
          <p:nvPr/>
        </p:nvSpPr>
        <p:spPr>
          <a:xfrm>
            <a:off x="5687568" y="141732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2" name="Text 20"/>
          <p:cNvSpPr/>
          <p:nvPr/>
        </p:nvSpPr>
        <p:spPr>
          <a:xfrm>
            <a:off x="5687568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47488" y="1828800"/>
            <a:ext cx="1828800" cy="2194560"/>
          </a:xfrm>
          <a:prstGeom prst="rect">
            <a:avLst>
              <a:gd name="adj" fmla="val 5000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47488" y="20116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計画内容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13248" y="2788920"/>
            <a:ext cx="1097280" cy="3657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6" name="Text 24"/>
          <p:cNvSpPr/>
          <p:nvPr/>
        </p:nvSpPr>
        <p:spPr>
          <a:xfrm>
            <a:off x="5047488" y="2880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担当: センター長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922008" y="2651760"/>
            <a:ext cx="457200" cy="457200"/>
          </a:xfrm>
          <a:prstGeom prst="rightArrow">
            <a:avLst/>
          </a:prstGeom>
          <a:solidFill>
            <a:srgbClr val="1976D2"/>
          </a:solidFill>
          <a:ln/>
        </p:spPr>
      </p:sp>
      <p:sp>
        <p:nvSpPr>
          <p:cNvPr id="28" name="Shape 26"/>
          <p:cNvSpPr/>
          <p:nvPr/>
        </p:nvSpPr>
        <p:spPr>
          <a:xfrm>
            <a:off x="8028432" y="1417320"/>
            <a:ext cx="548640" cy="548640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29" name="Text 27"/>
          <p:cNvSpPr/>
          <p:nvPr/>
        </p:nvSpPr>
        <p:spPr>
          <a:xfrm>
            <a:off x="8028432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388352" y="1828800"/>
            <a:ext cx="1828800" cy="2194560"/>
          </a:xfrm>
          <a:prstGeom prst="rect">
            <a:avLst>
              <a:gd name="adj" fmla="val 5000"/>
            </a:avLst>
          </a:prstGeom>
          <a:solidFill>
            <a:srgbClr val="FBE9E7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88352" y="20116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スナップ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ショット保存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754112" y="2788920"/>
            <a:ext cx="1097280" cy="36576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3" name="Text 31"/>
          <p:cNvSpPr/>
          <p:nvPr/>
        </p:nvSpPr>
        <p:spPr>
          <a:xfrm>
            <a:off x="7388352" y="2880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担当: 人事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262872" y="2651760"/>
            <a:ext cx="457200" cy="457200"/>
          </a:xfrm>
          <a:prstGeom prst="rightArrow">
            <a:avLst/>
          </a:prstGeom>
          <a:solidFill>
            <a:srgbClr val="1976D2"/>
          </a:solidFill>
          <a:ln/>
        </p:spPr>
      </p:sp>
      <p:sp>
        <p:nvSpPr>
          <p:cNvPr id="35" name="Shape 33"/>
          <p:cNvSpPr/>
          <p:nvPr/>
        </p:nvSpPr>
        <p:spPr>
          <a:xfrm>
            <a:off x="10369296" y="1417320"/>
            <a:ext cx="548640" cy="548640"/>
          </a:xfrm>
          <a:prstGeom prst="ellipse">
            <a:avLst/>
          </a:prstGeom>
          <a:solidFill>
            <a:srgbClr val="7B1FA2"/>
          </a:solidFill>
          <a:ln/>
        </p:spPr>
      </p:sp>
      <p:sp>
        <p:nvSpPr>
          <p:cNvPr id="36" name="Text 34"/>
          <p:cNvSpPr/>
          <p:nvPr/>
        </p:nvSpPr>
        <p:spPr>
          <a:xfrm>
            <a:off x="10369296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⑤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729216" y="1828800"/>
            <a:ext cx="1828800" cy="2194560"/>
          </a:xfrm>
          <a:prstGeom prst="rect">
            <a:avLst>
              <a:gd name="adj" fmla="val 5000"/>
            </a:avLst>
          </a:prstGeom>
          <a:solidFill>
            <a:srgbClr val="F3E5F5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729216" y="20116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差分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分析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10094976" y="2788920"/>
            <a:ext cx="1097280" cy="36576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40" name="Text 38"/>
          <p:cNvSpPr/>
          <p:nvPr/>
        </p:nvSpPr>
        <p:spPr>
          <a:xfrm>
            <a:off x="9729216" y="2880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担当: 人事・企画・センター長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65760" y="4251960"/>
            <a:ext cx="11704320" cy="914400"/>
          </a:xfrm>
          <a:prstGeom prst="rect">
            <a:avLst>
              <a:gd name="adj" fmla="val 5000"/>
            </a:avLst>
          </a:prstGeom>
          <a:solidFill>
            <a:srgbClr val="E3F2FD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43159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76D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月次サイクルのポイント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48640" y="457200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・異動計画を登録すると該当月の計画人数に自動反映されるため、手動修正不要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・月末にスナップショットを保存することで「その時点の計画」を履歴として残せる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・分析画面で実績との差分をいつでも確認可能（全ロール共通）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スナップショット機能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DEF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「いつ時点の計画か」を記録・比較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217920"/>
            <a:ext cx="12192000" cy="18288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263640"/>
            <a:ext cx="7315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人員計画管理システム　業務フロー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スナップショットとは？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691640"/>
            <a:ext cx="228600" cy="228600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66420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任意のタイミングで計画データを「保存」する機能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228600" cy="228600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25856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名前・日付・コメントを付けて管理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880360"/>
            <a:ext cx="228600" cy="228600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85292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月初・月末・経営会議前など節目で保存することを推奨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474720"/>
            <a:ext cx="228600" cy="228600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44728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保存後は分析画面で「どのスナップショットと比べるか」を選択可能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760720" y="1097280"/>
            <a:ext cx="6400800" cy="4754880"/>
          </a:xfrm>
          <a:prstGeom prst="rect">
            <a:avLst>
              <a:gd name="adj" fmla="val 1923"/>
            </a:avLst>
          </a:prstGeom>
          <a:solidFill>
            <a:srgbClr val="F5F7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11887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スナップショット活用イメージ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2743200"/>
            <a:ext cx="5577840" cy="54864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19" name="Shape 17"/>
          <p:cNvSpPr/>
          <p:nvPr/>
        </p:nvSpPr>
        <p:spPr>
          <a:xfrm>
            <a:off x="6263640" y="2624328"/>
            <a:ext cx="320040" cy="3200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0" name="Text 18"/>
          <p:cNvSpPr/>
          <p:nvPr/>
        </p:nvSpPr>
        <p:spPr>
          <a:xfrm>
            <a:off x="5852160" y="30175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4月初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スナップ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092440" y="2624328"/>
            <a:ext cx="320040" cy="320040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22" name="Text 20"/>
          <p:cNvSpPr/>
          <p:nvPr/>
        </p:nvSpPr>
        <p:spPr>
          <a:xfrm>
            <a:off x="7680960" y="30175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651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4月末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E651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スナップ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9921240" y="2624328"/>
            <a:ext cx="320040" cy="320040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24" name="Text 22"/>
          <p:cNvSpPr/>
          <p:nvPr/>
        </p:nvSpPr>
        <p:spPr>
          <a:xfrm>
            <a:off x="9509760" y="30175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976D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5月初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976D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スナップ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1292840" y="2624328"/>
            <a:ext cx="320040" cy="320040"/>
          </a:xfrm>
          <a:prstGeom prst="ellipse">
            <a:avLst/>
          </a:prstGeom>
          <a:solidFill>
            <a:srgbClr val="9C27B0"/>
          </a:solidFill>
          <a:ln/>
        </p:spPr>
      </p:sp>
      <p:sp>
        <p:nvSpPr>
          <p:cNvPr id="26" name="Text 24"/>
          <p:cNvSpPr/>
          <p:nvPr/>
        </p:nvSpPr>
        <p:spPr>
          <a:xfrm>
            <a:off x="10881360" y="30175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C27B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現在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400800" y="1920240"/>
            <a:ext cx="3794760" cy="5486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8" name="Shape 26"/>
          <p:cNvSpPr/>
          <p:nvPr/>
        </p:nvSpPr>
        <p:spPr>
          <a:xfrm>
            <a:off x="10058400" y="1783080"/>
            <a:ext cx="365760" cy="320040"/>
          </a:xfrm>
          <a:prstGeom prst="rightArrow">
            <a:avLst/>
          </a:prstGeom>
          <a:solidFill>
            <a:srgbClr val="E65100"/>
          </a:solidFill>
          <a:ln/>
        </p:spPr>
      </p:sp>
      <p:sp>
        <p:nvSpPr>
          <p:cNvPr id="29" name="Text 27"/>
          <p:cNvSpPr/>
          <p:nvPr/>
        </p:nvSpPr>
        <p:spPr>
          <a:xfrm>
            <a:off x="6949440" y="1691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651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比較可能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17920" y="3657600"/>
            <a:ext cx="5577840" cy="1645920"/>
          </a:xfrm>
          <a:prstGeom prst="rect">
            <a:avLst>
              <a:gd name="adj" fmla="val 2778"/>
            </a:avLst>
          </a:prstGeom>
          <a:solidFill>
            <a:srgbClr val="E3F2FD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3749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76D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活用シーン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0" y="406908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・経営会議前後の計画変化を記録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・年度計画と修正計画の差分確認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・異動発令前後の人数変化を追跡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分析画面の活用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DEF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グラフで計画・実績・将来予測を一覧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217920"/>
            <a:ext cx="12192000" cy="18288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263640"/>
            <a:ext cx="7315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人員計画管理システム　業務フロー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457200" cy="13716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1704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実績人数（確定値）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83280" y="1234440"/>
            <a:ext cx="457200" cy="13716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0" y="11704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計画予測（異動計画ベース）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0" y="1234440"/>
            <a:ext cx="457200" cy="13716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949440" y="11704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将来人数（半期予測）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418320" y="1234440"/>
            <a:ext cx="457200" cy="137160"/>
          </a:xfrm>
          <a:prstGeom prst="rect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66960" y="11704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比較マーカー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1554480"/>
            <a:ext cx="77724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846320"/>
            <a:ext cx="713232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470916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4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200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914400" y="4114800"/>
            <a:ext cx="713232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97764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4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175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914400" y="3383280"/>
            <a:ext cx="713232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2461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4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150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914400" y="2651760"/>
            <a:ext cx="713232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25146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4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125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914400" y="1920240"/>
            <a:ext cx="713232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178308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4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960120" y="48920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4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1月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847088" y="48920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4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2月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734056" y="48920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4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3月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621024" y="48920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4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4月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507992" y="48920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4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5月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394960" y="48920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4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6月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281928" y="48920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4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7月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168896" y="48920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4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8月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097280" y="4572000"/>
            <a:ext cx="914400" cy="128016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35" name="Shape 33"/>
          <p:cNvSpPr/>
          <p:nvPr/>
        </p:nvSpPr>
        <p:spPr>
          <a:xfrm>
            <a:off x="1024128" y="4590288"/>
            <a:ext cx="164592" cy="164592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36" name="Shape 34"/>
          <p:cNvSpPr/>
          <p:nvPr/>
        </p:nvSpPr>
        <p:spPr>
          <a:xfrm>
            <a:off x="2011680" y="4434840"/>
            <a:ext cx="914400" cy="173736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37" name="Shape 35"/>
          <p:cNvSpPr/>
          <p:nvPr/>
        </p:nvSpPr>
        <p:spPr>
          <a:xfrm>
            <a:off x="1938528" y="4498848"/>
            <a:ext cx="164592" cy="164592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38" name="Shape 36"/>
          <p:cNvSpPr/>
          <p:nvPr/>
        </p:nvSpPr>
        <p:spPr>
          <a:xfrm>
            <a:off x="2926080" y="4297680"/>
            <a:ext cx="914400" cy="173736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39" name="Shape 37"/>
          <p:cNvSpPr/>
          <p:nvPr/>
        </p:nvSpPr>
        <p:spPr>
          <a:xfrm>
            <a:off x="2852928" y="4361688"/>
            <a:ext cx="164592" cy="164592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40" name="Shape 38"/>
          <p:cNvSpPr/>
          <p:nvPr/>
        </p:nvSpPr>
        <p:spPr>
          <a:xfrm>
            <a:off x="3840480" y="4160520"/>
            <a:ext cx="914400" cy="173736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41" name="Shape 39"/>
          <p:cNvSpPr/>
          <p:nvPr/>
        </p:nvSpPr>
        <p:spPr>
          <a:xfrm>
            <a:off x="3767328" y="4224528"/>
            <a:ext cx="164592" cy="164592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42" name="Shape 40"/>
          <p:cNvSpPr/>
          <p:nvPr/>
        </p:nvSpPr>
        <p:spPr>
          <a:xfrm>
            <a:off x="4709160" y="4114800"/>
            <a:ext cx="822960" cy="54864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43" name="Shape 41"/>
          <p:cNvSpPr/>
          <p:nvPr/>
        </p:nvSpPr>
        <p:spPr>
          <a:xfrm>
            <a:off x="4681728" y="4087368"/>
            <a:ext cx="164592" cy="164592"/>
          </a:xfrm>
          <a:prstGeom prst="ellipse">
            <a:avLst/>
          </a:prstGeom>
          <a:solidFill>
            <a:srgbClr val="F57C00"/>
          </a:solidFill>
          <a:ln/>
        </p:spPr>
      </p:sp>
      <p:sp>
        <p:nvSpPr>
          <p:cNvPr id="44" name="Shape 42"/>
          <p:cNvSpPr/>
          <p:nvPr/>
        </p:nvSpPr>
        <p:spPr>
          <a:xfrm>
            <a:off x="5623560" y="3886200"/>
            <a:ext cx="822960" cy="54864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45" name="Shape 43"/>
          <p:cNvSpPr/>
          <p:nvPr/>
        </p:nvSpPr>
        <p:spPr>
          <a:xfrm>
            <a:off x="5596128" y="3858768"/>
            <a:ext cx="164592" cy="164592"/>
          </a:xfrm>
          <a:prstGeom prst="ellipse">
            <a:avLst/>
          </a:prstGeom>
          <a:solidFill>
            <a:srgbClr val="F57C00"/>
          </a:solidFill>
          <a:ln/>
        </p:spPr>
      </p:sp>
      <p:sp>
        <p:nvSpPr>
          <p:cNvPr id="46" name="Shape 44"/>
          <p:cNvSpPr/>
          <p:nvPr/>
        </p:nvSpPr>
        <p:spPr>
          <a:xfrm>
            <a:off x="6537960" y="3703320"/>
            <a:ext cx="822960" cy="54864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47" name="Shape 45"/>
          <p:cNvSpPr/>
          <p:nvPr/>
        </p:nvSpPr>
        <p:spPr>
          <a:xfrm>
            <a:off x="6510528" y="3675888"/>
            <a:ext cx="164592" cy="164592"/>
          </a:xfrm>
          <a:prstGeom prst="ellipse">
            <a:avLst/>
          </a:prstGeom>
          <a:solidFill>
            <a:srgbClr val="F57C00"/>
          </a:solidFill>
          <a:ln/>
        </p:spPr>
      </p:sp>
      <p:sp>
        <p:nvSpPr>
          <p:cNvPr id="48" name="Shape 46"/>
          <p:cNvSpPr/>
          <p:nvPr/>
        </p:nvSpPr>
        <p:spPr>
          <a:xfrm>
            <a:off x="7452360" y="3566160"/>
            <a:ext cx="822960" cy="54864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49" name="Shape 47"/>
          <p:cNvSpPr/>
          <p:nvPr/>
        </p:nvSpPr>
        <p:spPr>
          <a:xfrm>
            <a:off x="7424928" y="3538728"/>
            <a:ext cx="164592" cy="164592"/>
          </a:xfrm>
          <a:prstGeom prst="ellipse">
            <a:avLst/>
          </a:prstGeom>
          <a:solidFill>
            <a:srgbClr val="F57C00"/>
          </a:solidFill>
          <a:ln/>
        </p:spPr>
      </p:sp>
      <p:sp>
        <p:nvSpPr>
          <p:cNvPr id="50" name="Shape 48"/>
          <p:cNvSpPr/>
          <p:nvPr/>
        </p:nvSpPr>
        <p:spPr>
          <a:xfrm>
            <a:off x="6583680" y="1645920"/>
            <a:ext cx="36576" cy="320040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51" name="Shape 49"/>
          <p:cNvSpPr/>
          <p:nvPr/>
        </p:nvSpPr>
        <p:spPr>
          <a:xfrm>
            <a:off x="6492240" y="3703320"/>
            <a:ext cx="228600" cy="228600"/>
          </a:xfrm>
          <a:prstGeom prst="ellipse">
            <a:avLst/>
          </a:prstGeom>
          <a:solidFill>
            <a:srgbClr val="FF6F00"/>
          </a:solidFill>
          <a:ln/>
        </p:spPr>
      </p:sp>
      <p:sp>
        <p:nvSpPr>
          <p:cNvPr id="52" name="Text 50"/>
          <p:cNvSpPr/>
          <p:nvPr/>
        </p:nvSpPr>
        <p:spPr>
          <a:xfrm>
            <a:off x="6400800" y="15544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6F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▼スライダー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858000" y="3200400"/>
            <a:ext cx="1097280" cy="502920"/>
          </a:xfrm>
          <a:prstGeom prst="rect">
            <a:avLst>
              <a:gd name="adj" fmla="val 9091"/>
            </a:avLst>
          </a:prstGeom>
          <a:solidFill>
            <a:srgbClr val="FBE9E7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58000" y="32004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差分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−12人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8321040" y="1554480"/>
            <a:ext cx="3840480" cy="3657600"/>
          </a:xfrm>
          <a:prstGeom prst="rect">
            <a:avLst>
              <a:gd name="adj" fmla="val 2500"/>
            </a:avLst>
          </a:prstGeom>
          <a:solidFill>
            <a:srgbClr val="F5F7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503920" y="16916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グラフの見方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8503920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🔵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8915400" y="217627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実線：確定した実績人数の推移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8503920" y="2697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🟠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8915400" y="27249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破線：異動計画ベースの予測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850392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🔷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8915400" y="32735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菱形マーカー：将来人数（半期予測）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850392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🟡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8915400" y="38221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スライダー：見たい月に合わせて差分を確認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8503920" y="4343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📍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8915400" y="43708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オレンジマーカー：比較対象月を固定表示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将来人数の登録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DEF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半期ごとの人数予測をシステムに登録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217920"/>
            <a:ext cx="12192000" cy="18288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263640"/>
            <a:ext cx="7315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人員計画管理システム　業務フロー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5303520" cy="4846320"/>
          </a:xfrm>
          <a:prstGeom prst="rect">
            <a:avLst>
              <a:gd name="adj" fmla="val 1887"/>
            </a:avLst>
          </a:prstGeom>
          <a:solidFill>
            <a:srgbClr val="E3F2FD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801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登録フロー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914400" cy="640080"/>
          </a:xfrm>
          <a:prstGeom prst="rect">
            <a:avLst>
              <a:gd name="adj" fmla="val 7143"/>
            </a:avLst>
          </a:prstGeom>
          <a:solidFill>
            <a:srgbClr val="1976D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8288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00200" y="18745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半期計画で組織別の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将来人数を策定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" y="2468880"/>
            <a:ext cx="365760" cy="274320"/>
          </a:xfrm>
          <a:prstGeom prst="downArrow">
            <a:avLst/>
          </a:prstGeom>
          <a:solidFill>
            <a:srgbClr val="1976D2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834640"/>
            <a:ext cx="914400" cy="640080"/>
          </a:xfrm>
          <a:prstGeom prst="rect">
            <a:avLst>
              <a:gd name="adj" fmla="val 7143"/>
            </a:avLst>
          </a:prstGeom>
          <a:solidFill>
            <a:srgbClr val="2E7D32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8346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00200" y="28803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システムに組織・月・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人数を登録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" y="3474720"/>
            <a:ext cx="365760" cy="274320"/>
          </a:xfrm>
          <a:prstGeom prst="downArrow">
            <a:avLst/>
          </a:prstGeom>
          <a:solidFill>
            <a:srgbClr val="2E7D32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840480"/>
            <a:ext cx="914400" cy="640080"/>
          </a:xfrm>
          <a:prstGeom prst="rect">
            <a:avLst>
              <a:gd name="adj" fmla="val 7143"/>
            </a:avLst>
          </a:prstGeom>
          <a:solidFill>
            <a:srgbClr val="1976D2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84048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600200" y="3886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分析画面に青色の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菱形マーカーで表示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22960" y="4480560"/>
            <a:ext cx="365760" cy="274320"/>
          </a:xfrm>
          <a:prstGeom prst="downArrow">
            <a:avLst/>
          </a:prstGeom>
          <a:solidFill>
            <a:srgbClr val="1976D2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846320"/>
            <a:ext cx="914400" cy="640080"/>
          </a:xfrm>
          <a:prstGeom prst="rect">
            <a:avLst>
              <a:gd name="adj" fmla="val 7143"/>
            </a:avLst>
          </a:prstGeom>
          <a:solidFill>
            <a:srgbClr val="E65100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8463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600200" y="48920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計画との差分を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自動計算・比較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43600" y="1188720"/>
            <a:ext cx="6217920" cy="4846320"/>
          </a:xfrm>
          <a:prstGeom prst="rect">
            <a:avLst>
              <a:gd name="adj" fmla="val 1887"/>
            </a:avLst>
          </a:prstGeom>
          <a:solidFill>
            <a:srgbClr val="F5F7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12801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登録データのイメージ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26480" y="1828800"/>
            <a:ext cx="1828800" cy="41148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0" y="18288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組織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955280" y="1828800"/>
            <a:ext cx="1463040" cy="41148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29" name="Text 27"/>
          <p:cNvSpPr/>
          <p:nvPr/>
        </p:nvSpPr>
        <p:spPr>
          <a:xfrm>
            <a:off x="7955280" y="18288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対象月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418320" y="1828800"/>
            <a:ext cx="1463040" cy="41148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1" name="Text 29"/>
          <p:cNvSpPr/>
          <p:nvPr/>
        </p:nvSpPr>
        <p:spPr>
          <a:xfrm>
            <a:off x="9418320" y="18288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将来人数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0881360" y="1828800"/>
            <a:ext cx="1188720" cy="41148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3" name="Text 31"/>
          <p:cNvSpPr/>
          <p:nvPr/>
        </p:nvSpPr>
        <p:spPr>
          <a:xfrm>
            <a:off x="10881360" y="18288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登録者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26480" y="2331720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0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第1センター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955280" y="2331720"/>
            <a:ext cx="1463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55280" y="23317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2026/10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9418320" y="2331720"/>
            <a:ext cx="1463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418320" y="23317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85人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0881360" y="2331720"/>
            <a:ext cx="1188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881360" y="23317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人事部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126480" y="2788920"/>
            <a:ext cx="182880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26480" y="2788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第2センター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955280" y="2788920"/>
            <a:ext cx="146304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955280" y="27889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2026/10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9418320" y="2788920"/>
            <a:ext cx="146304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418320" y="27889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92人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10881360" y="2788920"/>
            <a:ext cx="118872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881360" y="27889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人事部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126480" y="3246120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26480" y="3246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第1センター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7955280" y="3246120"/>
            <a:ext cx="1463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955280" y="32461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2027/4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9418320" y="3246120"/>
            <a:ext cx="1463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418320" y="32461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90人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10881360" y="3246120"/>
            <a:ext cx="1188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881360" y="32461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人事部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126480" y="3703320"/>
            <a:ext cx="182880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126480" y="3703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第2センター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7955280" y="3703320"/>
            <a:ext cx="146304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955280" y="37033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2027/4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9418320" y="3703320"/>
            <a:ext cx="146304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418320" y="37033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88人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10881360" y="3703320"/>
            <a:ext cx="118872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881360" y="37033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人事部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6126480" y="457200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4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半期に一度（10月・4月）の登録を推奨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期待される効果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DEF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導入によるメリット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217920"/>
            <a:ext cx="12192000" cy="18288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263640"/>
            <a:ext cx="7315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人員計画管理システム　業務フロー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3749040" cy="1828800"/>
          </a:xfrm>
          <a:prstGeom prst="rect">
            <a:avLst>
              <a:gd name="adj" fmla="val 5000"/>
            </a:avLst>
          </a:prstGeom>
          <a:solidFill>
            <a:srgbClr val="E3F2FD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173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⏱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作業時間の削減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28600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Excelでの手動集計・突合が不要に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月次作業を大幅に効率化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0" y="1280160"/>
            <a:ext cx="3749040" cy="1828800"/>
          </a:xfrm>
          <a:prstGeom prst="rect">
            <a:avLst>
              <a:gd name="adj" fmla="val 5000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14173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📉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389120" y="19202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計画精度の向上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26280" y="228600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実績との差分をリアルタイムで把握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早期に計画修正が可能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412480" y="1280160"/>
            <a:ext cx="3749040" cy="1828800"/>
          </a:xfrm>
          <a:prstGeom prst="rect">
            <a:avLst>
              <a:gd name="adj" fmla="val 5000"/>
            </a:avLst>
          </a:prstGeom>
          <a:solidFill>
            <a:srgbClr val="FBE9E7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14173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🔒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412480" y="19202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情報管理の強化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549640" y="228600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ロールベース制御で権限外の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情報へのアクセスを遮断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383280"/>
            <a:ext cx="3749040" cy="1828800"/>
          </a:xfrm>
          <a:prstGeom prst="rect">
            <a:avLst>
              <a:gd name="adj" fmla="val 5000"/>
            </a:avLst>
          </a:prstGeom>
          <a:solidFill>
            <a:srgbClr val="F3E5F5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5204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📊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5760" y="40233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意思決定の加速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438912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グラフによる直感的な可視化で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会議での説明時間を短縮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389120" y="3383280"/>
            <a:ext cx="3749040" cy="1828800"/>
          </a:xfrm>
          <a:prstGeom prst="rect">
            <a:avLst>
              <a:gd name="adj" fmla="val 5000"/>
            </a:avLst>
          </a:prstGeom>
          <a:solidFill>
            <a:srgbClr val="FFF9C4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0" y="35204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🔄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389120" y="40233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履歴管理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26280" y="438912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スナップショットで過去の計画を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いつでも参照・比較可能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412480" y="3383280"/>
            <a:ext cx="3749040" cy="1828800"/>
          </a:xfrm>
          <a:prstGeom prst="rect">
            <a:avLst>
              <a:gd name="adj" fmla="val 5000"/>
            </a:avLst>
          </a:prstGeom>
          <a:solidFill>
            <a:srgbClr val="E3F2FD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12480" y="35204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☁️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8412480" y="40233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クラウド運用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549640" y="438912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AWSで24時間稼働・自動バックアップ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どこからでもアクセス可能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今後のロードマップ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DEF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POC完了から本番運用へ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217920"/>
            <a:ext cx="12192000" cy="18288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263640"/>
            <a:ext cx="7315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人員計画管理システム　業務フロー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3749040" cy="914400"/>
          </a:xfrm>
          <a:prstGeom prst="rect">
            <a:avLst>
              <a:gd name="adj" fmla="val 10000"/>
            </a:avLst>
          </a:prstGeom>
          <a:solidFill>
            <a:srgbClr val="2E7D32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18872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 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POC完了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7373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BDEF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2026年3月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600200" y="1280160"/>
            <a:ext cx="1280160" cy="274320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600200" y="12801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完了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194560"/>
            <a:ext cx="3749040" cy="3474720"/>
          </a:xfrm>
          <a:prstGeom prst="rect">
            <a:avLst>
              <a:gd name="adj" fmla="val 1316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2423160"/>
            <a:ext cx="182880" cy="18288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377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AWS Amplify + RDS構築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" y="3108960"/>
            <a:ext cx="182880" cy="18288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063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Next.js SSRデプロイ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3794760"/>
            <a:ext cx="182880" cy="18288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749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Prisma ORM・API実装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4360" y="4480560"/>
            <a:ext cx="182880" cy="18288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434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基本機能の動作確認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60520" y="2514600"/>
            <a:ext cx="320040" cy="457200"/>
          </a:xfrm>
          <a:prstGeom prst="rightArrow">
            <a:avLst/>
          </a:prstGeom>
          <a:solidFill>
            <a:srgbClr val="546E7A"/>
          </a:solidFill>
          <a:ln/>
        </p:spPr>
      </p:sp>
      <p:sp>
        <p:nvSpPr>
          <p:cNvPr id="22" name="Shape 20"/>
          <p:cNvSpPr/>
          <p:nvPr/>
        </p:nvSpPr>
        <p:spPr>
          <a:xfrm>
            <a:off x="4389120" y="1188720"/>
            <a:ext cx="3749040" cy="914400"/>
          </a:xfrm>
          <a:prstGeom prst="rect">
            <a:avLst>
              <a:gd name="adj" fmla="val 10000"/>
            </a:avLst>
          </a:prstGeom>
          <a:solidFill>
            <a:srgbClr val="1976D2"/>
          </a:solidFill>
          <a:ln/>
        </p:spPr>
      </p:sp>
      <p:sp>
        <p:nvSpPr>
          <p:cNvPr id="23" name="Text 21"/>
          <p:cNvSpPr/>
          <p:nvPr/>
        </p:nvSpPr>
        <p:spPr>
          <a:xfrm>
            <a:off x="4389120" y="118872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 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機能拡充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389120" y="17373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BDEF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2026年4〜6月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623560" y="1280160"/>
            <a:ext cx="1280160" cy="274320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623560" y="12801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976D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予定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389120" y="2194560"/>
            <a:ext cx="3749040" cy="3474720"/>
          </a:xfrm>
          <a:prstGeom prst="rect">
            <a:avLst>
              <a:gd name="adj" fmla="val 1316"/>
            </a:avLst>
          </a:prstGeom>
          <a:solidFill>
            <a:srgbClr val="E3F2FD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17720" y="2423160"/>
            <a:ext cx="182880" cy="182880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29" name="Text 27"/>
          <p:cNvSpPr/>
          <p:nvPr/>
        </p:nvSpPr>
        <p:spPr>
          <a:xfrm>
            <a:off x="4892040" y="2377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画面データのAPI化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17720" y="3108960"/>
            <a:ext cx="182880" cy="182880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3063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Azure AD認証連携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17720" y="3794760"/>
            <a:ext cx="182880" cy="182880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33" name="Text 31"/>
          <p:cNvSpPr/>
          <p:nvPr/>
        </p:nvSpPr>
        <p:spPr>
          <a:xfrm>
            <a:off x="4892040" y="3749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ロール自動付与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617720" y="4480560"/>
            <a:ext cx="182880" cy="182880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35" name="Text 33"/>
          <p:cNvSpPr/>
          <p:nvPr/>
        </p:nvSpPr>
        <p:spPr>
          <a:xfrm>
            <a:off x="4892040" y="4434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メンバー管理機能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183880" y="2514600"/>
            <a:ext cx="320040" cy="457200"/>
          </a:xfrm>
          <a:prstGeom prst="rightArrow">
            <a:avLst/>
          </a:prstGeom>
          <a:solidFill>
            <a:srgbClr val="546E7A"/>
          </a:solidFill>
          <a:ln/>
        </p:spPr>
      </p:sp>
      <p:sp>
        <p:nvSpPr>
          <p:cNvPr id="37" name="Shape 35"/>
          <p:cNvSpPr/>
          <p:nvPr/>
        </p:nvSpPr>
        <p:spPr>
          <a:xfrm>
            <a:off x="8412480" y="1188720"/>
            <a:ext cx="3749040" cy="914400"/>
          </a:xfrm>
          <a:prstGeom prst="rect">
            <a:avLst>
              <a:gd name="adj" fmla="val 10000"/>
            </a:avLst>
          </a:prstGeom>
          <a:solidFill>
            <a:srgbClr val="E65100"/>
          </a:solidFill>
          <a:ln/>
        </p:spPr>
      </p:sp>
      <p:sp>
        <p:nvSpPr>
          <p:cNvPr id="38" name="Text 36"/>
          <p:cNvSpPr/>
          <p:nvPr/>
        </p:nvSpPr>
        <p:spPr>
          <a:xfrm>
            <a:off x="8412480" y="118872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 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本番運用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412480" y="17373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BDEF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2026年7月〜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9646920" y="1280160"/>
            <a:ext cx="1280160" cy="274320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9646920" y="12801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予定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412480" y="2194560"/>
            <a:ext cx="3749040" cy="3474720"/>
          </a:xfrm>
          <a:prstGeom prst="rect">
            <a:avLst>
              <a:gd name="adj" fmla="val 1316"/>
            </a:avLst>
          </a:prstGeom>
          <a:solidFill>
            <a:srgbClr val="FBE9E7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641080" y="2423160"/>
            <a:ext cx="182880" cy="182880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44" name="Text 42"/>
          <p:cNvSpPr/>
          <p:nvPr/>
        </p:nvSpPr>
        <p:spPr>
          <a:xfrm>
            <a:off x="8915400" y="2377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全部門への展開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641080" y="3108960"/>
            <a:ext cx="182880" cy="182880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46" name="Text 44"/>
          <p:cNvSpPr/>
          <p:nvPr/>
        </p:nvSpPr>
        <p:spPr>
          <a:xfrm>
            <a:off x="8915400" y="3063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権限・テナント設計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8641080" y="3794760"/>
            <a:ext cx="182880" cy="182880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48" name="Text 46"/>
          <p:cNvSpPr/>
          <p:nvPr/>
        </p:nvSpPr>
        <p:spPr>
          <a:xfrm>
            <a:off x="8915400" y="3749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監査ログ対応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8641080" y="4480560"/>
            <a:ext cx="182880" cy="182880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50" name="Text 48"/>
          <p:cNvSpPr/>
          <p:nvPr/>
        </p:nvSpPr>
        <p:spPr>
          <a:xfrm>
            <a:off x="8915400" y="4434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運用マニュアル整備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2026-03-25T22:27:17Z</dcterms:created>
  <dcterms:modified xsi:type="dcterms:W3CDTF">2026-03-25T22:27:17Z</dcterms:modified>
</cp:coreProperties>
</file>