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業務フロー（スイムレーン）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月次・半期の標準的な業務プロセスと役割分担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26364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人員計画管理システム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37160" y="960120"/>
            <a:ext cx="868680" cy="1600200"/>
          </a:xfrm>
          <a:prstGeom prst="rect">
            <a:avLst/>
          </a:prstGeom>
          <a:solidFill>
            <a:srgbClr val="1976D2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960120"/>
            <a:ext cx="8686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1560" y="960120"/>
            <a:ext cx="11064240" cy="1600200"/>
          </a:xfrm>
          <a:prstGeom prst="rect">
            <a:avLst/>
          </a:prstGeom>
          <a:solidFill>
            <a:srgbClr val="EBF5F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2560320"/>
            <a:ext cx="868680" cy="1554480"/>
          </a:xfrm>
          <a:prstGeom prst="rect">
            <a:avLst/>
          </a:prstGeom>
          <a:solidFill>
            <a:srgbClr val="2E7D32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2560320"/>
            <a:ext cx="868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センター長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1560" y="2560320"/>
            <a:ext cx="1106424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4114800"/>
            <a:ext cx="868680" cy="1417320"/>
          </a:xfrm>
          <a:prstGeom prst="rect">
            <a:avLst/>
          </a:prstGeom>
          <a:solidFill>
            <a:srgbClr val="E6510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" y="4114800"/>
            <a:ext cx="868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1560" y="4114800"/>
            <a:ext cx="11064240" cy="1417320"/>
          </a:xfrm>
          <a:prstGeom prst="rect">
            <a:avLst/>
          </a:prstGeom>
          <a:solidFill>
            <a:srgbClr val="FBE9E7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" y="960120"/>
            <a:ext cx="11932920" cy="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1078992"/>
            <a:ext cx="777240" cy="502920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1078992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月初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スタート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938528" y="1289304"/>
            <a:ext cx="384048" cy="256032"/>
          </a:xfrm>
          <a:prstGeom prst="rightArrow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1033272"/>
            <a:ext cx="1508760" cy="594360"/>
          </a:xfrm>
          <a:prstGeom prst="rect">
            <a:avLst>
              <a:gd name="adj" fmla="val 9231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103327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異動計画登録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58768" y="1289304"/>
            <a:ext cx="347472" cy="256032"/>
          </a:xfrm>
          <a:prstGeom prst="rightArrow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24528" y="1033272"/>
            <a:ext cx="1417320" cy="594360"/>
          </a:xfrm>
          <a:prstGeom prst="rect">
            <a:avLst>
              <a:gd name="adj" fmla="val 9231"/>
            </a:avLst>
          </a:prstGeom>
          <a:solidFill>
            <a:srgbClr val="D6EAF8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103327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計画へ自動反映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89520" y="1033272"/>
            <a:ext cx="1600200" cy="594360"/>
          </a:xfrm>
          <a:prstGeom prst="rect">
            <a:avLst>
              <a:gd name="adj" fmla="val 9231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103327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スナップショット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208008" y="1289304"/>
            <a:ext cx="347472" cy="256032"/>
          </a:xfrm>
          <a:prstGeom prst="rightArrow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73768" y="1033272"/>
            <a:ext cx="1508760" cy="594360"/>
          </a:xfrm>
          <a:prstGeom prst="rect">
            <a:avLst>
              <a:gd name="adj" fmla="val 9231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73768" y="103327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差分分析・報告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1033272"/>
            <a:ext cx="1508760" cy="594360"/>
          </a:xfrm>
          <a:prstGeom prst="rect">
            <a:avLst>
              <a:gd name="adj" fmla="val 9231"/>
            </a:avLst>
          </a:prstGeom>
          <a:solidFill>
            <a:srgbClr val="FDECE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1033272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923544"/>
            <a:ext cx="868680" cy="365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23544"/>
            <a:ext cx="36576" cy="10972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80467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858768" y="1289304"/>
            <a:ext cx="347472" cy="256032"/>
          </a:xfrm>
          <a:prstGeom prst="rightArrow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24528" y="2697480"/>
            <a:ext cx="1417320" cy="548640"/>
          </a:xfrm>
          <a:prstGeom prst="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24528" y="26974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計画内容確認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28616" y="1627632"/>
            <a:ext cx="36576" cy="1069848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9" name="Shape 37"/>
          <p:cNvSpPr/>
          <p:nvPr/>
        </p:nvSpPr>
        <p:spPr>
          <a:xfrm>
            <a:off x="4800600" y="1536192"/>
            <a:ext cx="256032" cy="347472"/>
          </a:xfrm>
          <a:prstGeom prst="downArrow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70448" y="2606040"/>
            <a:ext cx="1417320" cy="731520"/>
          </a:xfrm>
          <a:prstGeom prst="diamond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70448" y="26060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0136" y="2962656"/>
            <a:ext cx="201168" cy="256032"/>
          </a:xfrm>
          <a:prstGeom prst="rightArrow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06056" y="2962656"/>
            <a:ext cx="1078992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4" name="Text 42"/>
          <p:cNvSpPr/>
          <p:nvPr/>
        </p:nvSpPr>
        <p:spPr>
          <a:xfrm>
            <a:off x="7498080" y="27889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385048" y="2331720"/>
            <a:ext cx="36576" cy="63093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6" name="Shape 44"/>
          <p:cNvSpPr/>
          <p:nvPr/>
        </p:nvSpPr>
        <p:spPr>
          <a:xfrm>
            <a:off x="8257032" y="1719072"/>
            <a:ext cx="256032" cy="347472"/>
          </a:xfrm>
          <a:prstGeom prst="downArrow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37960" y="3337560"/>
            <a:ext cx="256032" cy="320040"/>
          </a:xfrm>
          <a:prstGeom prst="downArrow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70448" y="3675888"/>
            <a:ext cx="1417320" cy="502920"/>
          </a:xfrm>
          <a:prstGeom prst="rect">
            <a:avLst>
              <a:gd name="adj" fmla="val 10909"/>
            </a:avLst>
          </a:prstGeom>
          <a:solidFill>
            <a:srgbClr val="FDECEA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0448" y="367588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修正依頼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90488" y="3931920"/>
            <a:ext cx="54864" cy="365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1" name="Shape 49"/>
          <p:cNvSpPr/>
          <p:nvPr/>
        </p:nvSpPr>
        <p:spPr>
          <a:xfrm>
            <a:off x="6245352" y="1627632"/>
            <a:ext cx="36576" cy="230428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2" name="Shape 50"/>
          <p:cNvSpPr/>
          <p:nvPr/>
        </p:nvSpPr>
        <p:spPr>
          <a:xfrm>
            <a:off x="6117336" y="1536192"/>
            <a:ext cx="256032" cy="347472"/>
          </a:xfrm>
          <a:prstGeom prst="downArrow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78992" y="4187952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（半期）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78992" y="4434840"/>
            <a:ext cx="1508760" cy="548640"/>
          </a:xfrm>
          <a:prstGeom prst="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78992" y="44348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将来人数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策定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606040" y="4690872"/>
            <a:ext cx="347472" cy="256032"/>
          </a:xfrm>
          <a:prstGeom prst="rightArrow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971800" y="4434840"/>
            <a:ext cx="1508760" cy="548640"/>
          </a:xfrm>
          <a:prstGeom prst="rect">
            <a:avLst>
              <a:gd name="adj" fmla="val 10000"/>
            </a:avLst>
          </a:prstGeom>
          <a:solidFill>
            <a:srgbClr val="FBE9E7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71800" y="44348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将来人数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498848" y="4690872"/>
            <a:ext cx="5148072" cy="3657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0" name="Shape 58"/>
          <p:cNvSpPr/>
          <p:nvPr/>
        </p:nvSpPr>
        <p:spPr>
          <a:xfrm>
            <a:off x="9546336" y="4690872"/>
            <a:ext cx="256032" cy="256032"/>
          </a:xfrm>
          <a:prstGeom prst="rightArrow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323576" y="1627632"/>
            <a:ext cx="36576" cy="306324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2" name="Text 60"/>
          <p:cNvSpPr/>
          <p:nvPr/>
        </p:nvSpPr>
        <p:spPr>
          <a:xfrm>
            <a:off x="10332720" y="29260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1976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全ロール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1976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参照可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37160" y="5577840"/>
            <a:ext cx="1188720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" y="56509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凡例: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14400" y="5669280"/>
            <a:ext cx="50292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08760" y="5669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プロセス（処理）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114800" y="5669280"/>
            <a:ext cx="502920" cy="274320"/>
          </a:xfrm>
          <a:prstGeom prst="diamond">
            <a:avLst/>
          </a:prstGeom>
          <a:solidFill>
            <a:srgbClr val="FFF9C4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09160" y="5669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判断（分岐）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315200" y="5669280"/>
            <a:ext cx="502920" cy="27432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09560" y="5669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開始/終了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システムアーキテクチャ概略図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Amplify + RDS PostgreSQL 構成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12192000" cy="18288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26364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人員計画管理システム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2926080" cy="5074920"/>
          </a:xfrm>
          <a:prstGeom prst="rect">
            <a:avLst>
              <a:gd name="adj" fmla="val 3125"/>
            </a:avLst>
          </a:prstGeom>
          <a:solidFill>
            <a:srgbClr val="F8F9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82880" y="9601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256032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1508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892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 / ブラウザ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256032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センター長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035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 / ブラウザ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2560320" cy="9144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794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178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 / ブラウザ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0" y="3017520"/>
            <a:ext cx="594360" cy="502920"/>
          </a:xfrm>
          <a:prstGeom prst="rightArrow">
            <a:avLst/>
          </a:prstGeom>
          <a:solidFill>
            <a:srgbClr val="1976D2"/>
          </a:solidFill>
          <a:ln/>
        </p:spPr>
      </p:sp>
      <p:sp>
        <p:nvSpPr>
          <p:cNvPr id="22" name="Text 20"/>
          <p:cNvSpPr/>
          <p:nvPr/>
        </p:nvSpPr>
        <p:spPr>
          <a:xfrm>
            <a:off x="3154680" y="2880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86200" y="960120"/>
            <a:ext cx="8092440" cy="5074920"/>
          </a:xfrm>
          <a:prstGeom prst="rect">
            <a:avLst>
              <a:gd name="adj" fmla="val 2703"/>
            </a:avLst>
          </a:prstGeom>
          <a:solidFill>
            <a:srgbClr val="FFF8E1"/>
          </a:solidFill>
          <a:ln w="12700">
            <a:solidFill>
              <a:srgbClr val="F9A825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97764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7F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☁  AWS Cloud（us-east-1）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69080" y="1444752"/>
            <a:ext cx="2103120" cy="777240"/>
          </a:xfrm>
          <a:prstGeom prst="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144475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🐙  GitHub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tsuboi-yd/HRManage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99632" y="1719072"/>
            <a:ext cx="640080" cy="347472"/>
          </a:xfrm>
          <a:prstGeom prst="rightArrow">
            <a:avLst/>
          </a:prstGeom>
          <a:solidFill>
            <a:srgbClr val="7B1FA2"/>
          </a:solidFill>
          <a:ln/>
        </p:spPr>
      </p:sp>
      <p:sp>
        <p:nvSpPr>
          <p:cNvPr id="28" name="Text 26"/>
          <p:cNvSpPr/>
          <p:nvPr/>
        </p:nvSpPr>
        <p:spPr>
          <a:xfrm>
            <a:off x="6144768" y="157276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1F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push →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B1FA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自動ビルド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903720" y="1325880"/>
            <a:ext cx="4846320" cy="2148840"/>
          </a:xfrm>
          <a:prstGeom prst="rect">
            <a:avLst>
              <a:gd name="adj" fmla="val 5106"/>
            </a:avLst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138988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Amplify Hosting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59168" y="1810512"/>
            <a:ext cx="2148840" cy="685800"/>
          </a:xfrm>
          <a:prstGeom prst="rect">
            <a:avLst>
              <a:gd name="adj" fmla="val 10667"/>
            </a:avLst>
          </a:prstGeom>
          <a:solidFill>
            <a:srgbClr val="D6EAF8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59168" y="181051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Next.js 14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 Router (SSR)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308592" y="1810512"/>
            <a:ext cx="2240280" cy="685800"/>
          </a:xfrm>
          <a:prstGeom prst="rect">
            <a:avLst>
              <a:gd name="adj" fmla="val 10667"/>
            </a:avLst>
          </a:prstGeom>
          <a:solidFill>
            <a:srgbClr val="D6EAF8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08592" y="181051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Routes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(/api/*)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235440" y="2075688"/>
            <a:ext cx="292608" cy="228600"/>
          </a:xfrm>
          <a:prstGeom prst="rightArrow">
            <a:avLst/>
          </a:prstGeom>
          <a:solidFill>
            <a:srgbClr val="1976D2"/>
          </a:solidFill>
          <a:ln/>
        </p:spPr>
      </p:sp>
      <p:sp>
        <p:nvSpPr>
          <p:cNvPr id="36" name="Shape 34"/>
          <p:cNvSpPr/>
          <p:nvPr/>
        </p:nvSpPr>
        <p:spPr>
          <a:xfrm>
            <a:off x="8321040" y="3502152"/>
            <a:ext cx="347472" cy="384048"/>
          </a:xfrm>
          <a:prstGeom prst="downArrow">
            <a:avLst/>
          </a:prstGeom>
          <a:solidFill>
            <a:srgbClr val="1976D2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0" y="39136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Prisma ORM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03720" y="3794760"/>
            <a:ext cx="4846320" cy="1417320"/>
          </a:xfrm>
          <a:prstGeom prst="rect">
            <a:avLst>
              <a:gd name="adj" fmla="val 7742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385876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RDS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59168" y="4251960"/>
            <a:ext cx="2148840" cy="685800"/>
          </a:xfrm>
          <a:prstGeom prst="rect">
            <a:avLst>
              <a:gd name="adj" fmla="val 10667"/>
            </a:avLst>
          </a:prstGeom>
          <a:solidFill>
            <a:srgbClr val="C8E6C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9168" y="4251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PostgreSQL 15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(db.t3.micro)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308592" y="4251960"/>
            <a:ext cx="2240280" cy="685800"/>
          </a:xfrm>
          <a:prstGeom prst="rect">
            <a:avLst>
              <a:gd name="adj" fmla="val 10667"/>
            </a:avLst>
          </a:prstGeom>
          <a:solidFill>
            <a:srgbClr val="C8E6C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08592" y="42519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スキーマ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7テーブル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069080" y="2359152"/>
            <a:ext cx="2606040" cy="2148840"/>
          </a:xfrm>
          <a:prstGeom prst="rect">
            <a:avLst>
              <a:gd name="adj" fmla="val 4255"/>
            </a:avLst>
          </a:prstGeom>
          <a:solidFill>
            <a:srgbClr val="FDECEA"/>
          </a:solidFill>
          <a:ln w="12700">
            <a:solidFill>
              <a:srgbClr val="C62828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4114800" y="23957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将来実装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206240" y="2697480"/>
            <a:ext cx="2377440" cy="594360"/>
          </a:xfrm>
          <a:prstGeom prst="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06240" y="2697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🏢  Azure 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（社内認証基盤）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276088" y="3319272"/>
            <a:ext cx="256032" cy="256032"/>
          </a:xfrm>
          <a:prstGeom prst="downArrow">
            <a:avLst/>
          </a:prstGeom>
          <a:solidFill>
            <a:srgbClr val="C62828"/>
          </a:solidFill>
          <a:ln/>
        </p:spPr>
      </p:sp>
      <p:sp>
        <p:nvSpPr>
          <p:cNvPr id="49" name="Shape 47"/>
          <p:cNvSpPr/>
          <p:nvPr/>
        </p:nvSpPr>
        <p:spPr>
          <a:xfrm>
            <a:off x="4206240" y="3611880"/>
            <a:ext cx="2377440" cy="594360"/>
          </a:xfrm>
          <a:prstGeom prst="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0" y="3611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🔐  Amazon Cognito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632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（認証・ロール管理）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601968" y="3840480"/>
            <a:ext cx="411480" cy="256032"/>
          </a:xfrm>
          <a:prstGeom prst="rightArrow">
            <a:avLst/>
          </a:prstGeom>
          <a:solidFill>
            <a:srgbClr val="C62828"/>
          </a:solidFill>
          <a:ln/>
        </p:spPr>
      </p:sp>
      <p:sp>
        <p:nvSpPr>
          <p:cNvPr id="52" name="Text 50"/>
          <p:cNvSpPr/>
          <p:nvPr/>
        </p:nvSpPr>
        <p:spPr>
          <a:xfrm>
            <a:off x="4160520" y="42336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役職情報で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C628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自動ロール付与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069080" y="4846320"/>
            <a:ext cx="7818120" cy="914400"/>
          </a:xfrm>
          <a:prstGeom prst="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0" y="4919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データフロー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06240" y="519379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ユーザー操作 → Amplify (Next.js) が画面を生成・API処理 → Prisma ORM 経由で RDS に読み書き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GitHubへのpushで自動ビルド＆デプロイ　｜　将来: Azure ADの役職情報でCognitoが自動ロール付与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2026-03-25T22:41:19Z</dcterms:created>
  <dcterms:modified xsi:type="dcterms:W3CDTF">2026-03-25T22:41:19Z</dcterms:modified>
</cp:coreProperties>
</file>